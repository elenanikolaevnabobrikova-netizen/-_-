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5" r:id="rId6"/>
    <p:sldId id="261" r:id="rId7"/>
    <p:sldId id="262" r:id="rId8"/>
    <p:sldId id="263" r:id="rId9"/>
    <p:sldId id="264" r:id="rId10"/>
  </p:sldIdLst>
  <p:sldSz cx="12192000" cy="6858000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481730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2004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85750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8575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8575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8575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descr="/home/claude/head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/>
          <p:nvPr/>
        </p:nvSpPr>
        <p:spPr>
          <a:xfrm>
            <a:off x="11338560" y="6446520"/>
            <a:ext cx="547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>
                <a:solidFill>
                  <a:srgbClr val="D9D9D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640080" y="1749960"/>
            <a:ext cx="10972080" cy="13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43199" y="2034073"/>
            <a:ext cx="64567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/>
              <a:t>Команда №9</a:t>
            </a:r>
          </a:p>
          <a:p>
            <a:pPr algn="ctr"/>
            <a:r>
              <a:rPr lang="ru-RU" sz="3200" b="1" dirty="0" smtClean="0"/>
              <a:t>Ростовская область</a:t>
            </a:r>
            <a:endParaRPr lang="ru-RU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95738" y="4506686"/>
            <a:ext cx="30697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Бобрикова Елена Николаевна</a:t>
            </a:r>
          </a:p>
          <a:p>
            <a:endParaRPr lang="ru-R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669763" y="4575797"/>
            <a:ext cx="40663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Лубенец Галина Владимировна</a:t>
            </a:r>
            <a:endParaRPr lang="ru-RU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5" descr="/home/claude/head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5"/>
          <p:cNvSpPr/>
          <p:nvPr/>
        </p:nvSpPr>
        <p:spPr>
          <a:xfrm>
            <a:off x="11338560" y="6446520"/>
            <a:ext cx="547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>
                <a:solidFill>
                  <a:srgbClr val="D9D9D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40080" y="1130040"/>
            <a:ext cx="499680" cy="499680"/>
          </a:xfrm>
          <a:prstGeom prst="ellipse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u="none" strike="noStrike" cap="non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280160" y="1130040"/>
            <a:ext cx="10606320" cy="69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ru-RU" sz="2800" b="1" dirty="0"/>
              <a:t> </a:t>
            </a:r>
            <a:r>
              <a:rPr lang="ru-RU" sz="2800" b="1" dirty="0" smtClean="0"/>
              <a:t>Цифровой шифровальщик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40080" y="1820160"/>
            <a:ext cx="10911600" cy="65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40080" y="2480040"/>
            <a:ext cx="10911600" cy="94968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900000" y="2630160"/>
            <a:ext cx="103914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ru-RU" sz="1600" b="1" dirty="0"/>
              <a:t>«Цифровой  переводчик»: интерактивный тренажёр по системам счисления</a:t>
            </a:r>
            <a:endParaRPr sz="15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40080" y="3750120"/>
            <a:ext cx="351684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Предметы-партнёры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40080" y="4150080"/>
            <a:ext cx="3516840" cy="69948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900000" y="4299840"/>
            <a:ext cx="29970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0" i="1" u="none" strike="noStrike" dirty="0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[Информатика + </a:t>
            </a:r>
            <a:r>
              <a:rPr lang="ru-RU" sz="1250" i="1" dirty="0" smtClean="0">
                <a:solidFill>
                  <a:srgbClr val="5A5A5E"/>
                </a:solidFill>
              </a:rPr>
              <a:t>математика  + русский язык</a:t>
            </a:r>
            <a:endParaRPr sz="12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337280" y="3750120"/>
            <a:ext cx="351684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Класс / возраст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337280" y="4150080"/>
            <a:ext cx="3516840" cy="69948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597200" y="4299840"/>
            <a:ext cx="29970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ru-RU" sz="1250" i="1" dirty="0">
                <a:solidFill>
                  <a:srgbClr val="5A5A5E"/>
                </a:solidFill>
              </a:rPr>
              <a:t>10 класс – профильный  класс </a:t>
            </a:r>
            <a:r>
              <a:rPr lang="ru-RU" sz="1250" i="1" dirty="0" smtClean="0">
                <a:solidFill>
                  <a:srgbClr val="5A5A5E"/>
                </a:solidFill>
              </a:rPr>
              <a:t>(</a:t>
            </a:r>
          </a:p>
          <a:p>
            <a:pPr lvl="0"/>
            <a:r>
              <a:rPr lang="ru-RU" sz="1250" i="1" dirty="0" smtClean="0">
                <a:solidFill>
                  <a:srgbClr val="5A5A5E"/>
                </a:solidFill>
              </a:rPr>
              <a:t>15 </a:t>
            </a:r>
            <a:r>
              <a:rPr lang="ru-RU" sz="1250" i="1" dirty="0">
                <a:solidFill>
                  <a:srgbClr val="5A5A5E"/>
                </a:solidFill>
              </a:rPr>
              <a:t>- 16 лет)</a:t>
            </a:r>
            <a:endParaRPr sz="1250" i="1" dirty="0">
              <a:solidFill>
                <a:srgbClr val="5A5A5E"/>
              </a:solidFill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034480" y="3750120"/>
            <a:ext cx="351684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Где проходит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8034480" y="4150080"/>
            <a:ext cx="3516840" cy="69948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8294760" y="4299840"/>
            <a:ext cx="29970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ru-RU" sz="1250" i="1" dirty="0">
                <a:solidFill>
                  <a:srgbClr val="5A5A5E"/>
                </a:solidFill>
              </a:rPr>
              <a:t>Компьютерный класс или класс с ноутбуками</a:t>
            </a:r>
            <a:endParaRPr sz="1250" i="1" dirty="0">
              <a:solidFill>
                <a:srgbClr val="5A5A5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6" descr="/home/claude/header_stri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760" cy="75816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/>
          <p:nvPr/>
        </p:nvSpPr>
        <p:spPr>
          <a:xfrm>
            <a:off x="11338560" y="6446520"/>
            <a:ext cx="547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u="none" strike="noStrike">
                <a:solidFill>
                  <a:srgbClr val="3A3A3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40080" y="1130040"/>
            <a:ext cx="499680" cy="499680"/>
          </a:xfrm>
          <a:prstGeom prst="ellipse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7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1280160" y="1130040"/>
            <a:ext cx="7999560" cy="4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Проблема</a:t>
            </a:r>
            <a:endParaRPr sz="28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40080" y="2480040"/>
            <a:ext cx="10911600" cy="94968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9525" cap="flat" cmpd="sng">
            <a:solidFill>
              <a:srgbClr val="2E2E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609660" y="2642627"/>
            <a:ext cx="10972440" cy="848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В последние  годы,  из-за маленького проходного  балла  по  ОГЭ – информатике, его  выбирают большое  количество  </a:t>
            </a:r>
            <a:r>
              <a:rPr lang="ru-RU" sz="1600" dirty="0" smtClean="0">
                <a:solidFill>
                  <a:schemeClr val="bg1"/>
                </a:solidFill>
              </a:rPr>
              <a:t>девятиклассников. Ученики </a:t>
            </a:r>
            <a:r>
              <a:rPr lang="ru-RU" sz="1600" dirty="0">
                <a:solidFill>
                  <a:schemeClr val="bg1"/>
                </a:solidFill>
              </a:rPr>
              <a:t>знают правила, но при самостоятельной отработке совершают одни и те же ошибки: путают порядок чтения остатков, забывают про последнее частное, теряются при переводе в 16-ричную из-за букв A–F.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0" u="none" strike="noStrik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40080" y="5550120"/>
            <a:ext cx="10911600" cy="4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79;p6">
            <a:extLst>
              <a:ext uri="{FF2B5EF4-FFF2-40B4-BE49-F238E27FC236}">
                <a16:creationId xmlns="" xmlns:a16="http://schemas.microsoft.com/office/drawing/2014/main" id="{083B6A70-49B8-5F69-C890-A15FA6CBD85E}"/>
              </a:ext>
            </a:extLst>
          </p:cNvPr>
          <p:cNvSpPr/>
          <p:nvPr/>
        </p:nvSpPr>
        <p:spPr>
          <a:xfrm>
            <a:off x="640200" y="3513600"/>
            <a:ext cx="10911600" cy="94968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9525" cap="flat" cmpd="sng">
            <a:solidFill>
              <a:srgbClr val="2E2E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0;p6">
            <a:extLst>
              <a:ext uri="{FF2B5EF4-FFF2-40B4-BE49-F238E27FC236}">
                <a16:creationId xmlns="" xmlns:a16="http://schemas.microsoft.com/office/drawing/2014/main" id="{36D816BA-982A-3B2E-88F4-CE15264062A9}"/>
              </a:ext>
            </a:extLst>
          </p:cNvPr>
          <p:cNvSpPr/>
          <p:nvPr/>
        </p:nvSpPr>
        <p:spPr>
          <a:xfrm>
            <a:off x="640200" y="3663540"/>
            <a:ext cx="1097232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Готовые онлайн-тренажёры либо показывают только финальный ответ (не помогают разобраться в ошибке), либо слишком простые. Учитель не может проверить десятки однотипных примеров каждого ученика. В итоге школьники тренируются «на глаз» и не видят прогресса.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0" u="none" strike="noStrik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79;p6">
            <a:extLst>
              <a:ext uri="{FF2B5EF4-FFF2-40B4-BE49-F238E27FC236}">
                <a16:creationId xmlns="" xmlns:a16="http://schemas.microsoft.com/office/drawing/2014/main" id="{67AA7364-7C84-F636-1E21-4875802825F9}"/>
              </a:ext>
            </a:extLst>
          </p:cNvPr>
          <p:cNvSpPr/>
          <p:nvPr/>
        </p:nvSpPr>
        <p:spPr>
          <a:xfrm>
            <a:off x="640200" y="4588201"/>
            <a:ext cx="10911600" cy="94968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9525" cap="flat" cmpd="sng">
            <a:solidFill>
              <a:srgbClr val="2E2E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0;p6">
            <a:extLst>
              <a:ext uri="{FF2B5EF4-FFF2-40B4-BE49-F238E27FC236}">
                <a16:creationId xmlns="" xmlns:a16="http://schemas.microsoft.com/office/drawing/2014/main" id="{14CF3C0F-20C8-6AB7-0B61-4D38DD8AE785}"/>
              </a:ext>
            </a:extLst>
          </p:cNvPr>
          <p:cNvSpPr/>
          <p:nvPr/>
        </p:nvSpPr>
        <p:spPr>
          <a:xfrm>
            <a:off x="640200" y="4864577"/>
            <a:ext cx="1097244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Проблему нельзя решить «в одно действие»: нужно спроектировать собственный инструмент, который одновременно и тренирует, и объясняет ошибки, и сохраняет статистику. Именно здесь и работает информатика как ведущий предмет — не как «урок программирования», а как инструмент создания полезного продукта.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0" u="none" strike="noStrik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7" descr="/home/claude/head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/>
          <p:nvPr/>
        </p:nvSpPr>
        <p:spPr>
          <a:xfrm>
            <a:off x="11338560" y="6446520"/>
            <a:ext cx="547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u="none" strike="noStrike">
                <a:solidFill>
                  <a:srgbClr val="D9D9D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40080" y="1130040"/>
            <a:ext cx="499680" cy="499680"/>
          </a:xfrm>
          <a:prstGeom prst="ellipse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7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1280160" y="1130040"/>
            <a:ext cx="7999560" cy="4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u="none" strike="noStrike" dirty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Замысел</a:t>
            </a:r>
            <a:endParaRPr sz="2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99840" y="2419920"/>
            <a:ext cx="219960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Информатика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00120" y="2800080"/>
            <a:ext cx="1949760" cy="1949760"/>
          </a:xfrm>
          <a:prstGeom prst="ellipse">
            <a:avLst/>
          </a:prstGeom>
          <a:solidFill>
            <a:srgbClr val="D4F7EC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550160" y="2800080"/>
            <a:ext cx="1949760" cy="1949760"/>
          </a:xfrm>
          <a:prstGeom prst="ellipse">
            <a:avLst/>
          </a:prstGeom>
          <a:solidFill>
            <a:srgbClr val="E8E8EA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1350000" y="4830120"/>
            <a:ext cx="234972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i="1" dirty="0">
                <a:solidFill>
                  <a:srgbClr val="0F0F0F"/>
                </a:solidFill>
              </a:rPr>
              <a:t>М</a:t>
            </a:r>
            <a:r>
              <a:rPr lang="ru-RU" sz="1300" b="1" i="1" dirty="0" smtClean="0">
                <a:solidFill>
                  <a:srgbClr val="0F0F0F"/>
                </a:solidFill>
              </a:rPr>
              <a:t>атематика</a:t>
            </a:r>
            <a:endParaRPr sz="13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3499920" y="2750040"/>
            <a:ext cx="8049600" cy="1849680"/>
          </a:xfrm>
          <a:prstGeom prst="roundRect">
            <a:avLst>
              <a:gd name="adj" fmla="val 3500"/>
            </a:avLst>
          </a:prstGeom>
          <a:solidFill>
            <a:srgbClr val="F7F7F8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780000" y="2900160"/>
            <a:ext cx="754956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 dirty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Совместное решение</a:t>
            </a:r>
            <a:endParaRPr sz="15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3780000" y="3380040"/>
            <a:ext cx="7529760" cy="109980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039920" y="3530160"/>
            <a:ext cx="7009560" cy="79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1200" dirty="0"/>
              <a:t>Предмет-партнёр — </a:t>
            </a:r>
            <a:r>
              <a:rPr lang="ru-RU" sz="1200" b="1" dirty="0"/>
              <a:t>математика</a:t>
            </a:r>
            <a:r>
              <a:rPr lang="ru-RU" sz="1200" dirty="0"/>
              <a:t>. Её задача: уверенный перевод чисел между системами счисления (2, 8, 10, 16). Информатика решает эту задачу не «повторением правил», а </a:t>
            </a:r>
            <a:r>
              <a:rPr lang="ru-RU" sz="1200" b="1" dirty="0"/>
              <a:t>формализацией каждого математического действия в виде алгоритма</a:t>
            </a:r>
            <a:endParaRPr sz="12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640080" y="5349960"/>
            <a:ext cx="10911600" cy="44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ru-RU" dirty="0"/>
              <a:t>Ключевое различие не в том, что компьютер «считает быстрее». Он делает другую работу: берёт на себя рутинные операции, которые ученик физически не успевает выполнить в том же объёме и с той же точностью. </a:t>
            </a:r>
            <a:endParaRPr sz="1400" u="none" strike="noStrike" dirty="0">
              <a:solidFill>
                <a:srgbClr val="000000"/>
              </a:solidFill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8" descr="/home/claude/head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/>
          <p:nvPr/>
        </p:nvSpPr>
        <p:spPr>
          <a:xfrm>
            <a:off x="11338560" y="6446520"/>
            <a:ext cx="547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u="none" strike="noStrike">
                <a:solidFill>
                  <a:srgbClr val="D9D9D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640080" y="1130040"/>
            <a:ext cx="499680" cy="499680"/>
          </a:xfrm>
          <a:prstGeom prst="ellipse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7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1280160" y="1130040"/>
            <a:ext cx="7999560" cy="4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Этапы</a:t>
            </a:r>
            <a:endParaRPr sz="2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640080" y="1623310"/>
            <a:ext cx="10911600" cy="44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r>
              <a:rPr lang="ru-RU" sz="1600" b="1" dirty="0"/>
              <a:t>Занятие 1 (45 мин): «Разбираемся в алгоритмах</a:t>
            </a:r>
            <a:r>
              <a:rPr lang="ru-RU" sz="1600" b="1" dirty="0" smtClean="0"/>
              <a:t>»</a:t>
            </a:r>
            <a:endParaRPr lang="ru-RU" sz="1600" dirty="0"/>
          </a:p>
        </p:txBody>
      </p:sp>
      <p:sp>
        <p:nvSpPr>
          <p:cNvPr id="119" name="Google Shape;119;p8"/>
          <p:cNvSpPr/>
          <p:nvPr/>
        </p:nvSpPr>
        <p:spPr>
          <a:xfrm>
            <a:off x="640080" y="2048240"/>
            <a:ext cx="10911600" cy="819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900000" y="2178200"/>
            <a:ext cx="479520" cy="47952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1649880" y="2138240"/>
            <a:ext cx="3299760" cy="4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1600" dirty="0"/>
              <a:t>Этап 1 «Вводная и роли</a:t>
            </a:r>
            <a:r>
              <a:rPr lang="ru-RU" sz="1600" dirty="0" smtClean="0"/>
              <a:t>»</a:t>
            </a:r>
            <a:endParaRPr sz="14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5150160" y="2138240"/>
            <a:ext cx="4999680" cy="5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1200" dirty="0"/>
              <a:t>Смотрят </a:t>
            </a:r>
            <a:r>
              <a:rPr lang="ru-RU" sz="1200" dirty="0" err="1"/>
              <a:t>демо</a:t>
            </a:r>
            <a:r>
              <a:rPr lang="ru-RU" sz="1200" dirty="0"/>
              <a:t>-тренажёры, распределяют роли, формулируют гипотезу «что будет самым сложным»</a:t>
            </a:r>
            <a:endParaRPr sz="12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10100160" y="2178200"/>
            <a:ext cx="1199520" cy="47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 dirty="0" smtClean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[5  </a:t>
            </a:r>
            <a:r>
              <a:rPr lang="ru-RU" sz="1400" b="1" u="none" strike="noStrike" dirty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мин]</a:t>
            </a:r>
            <a:endParaRPr sz="14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640080" y="2968040"/>
            <a:ext cx="10911600" cy="819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900000" y="3098360"/>
            <a:ext cx="479520" cy="47952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1649880" y="3058040"/>
            <a:ext cx="3299760" cy="4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1600" dirty="0"/>
              <a:t>Этап 2 «Алгоритмы на бумаге» </a:t>
            </a:r>
            <a:endParaRPr sz="14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150160" y="3058040"/>
            <a:ext cx="4999680" cy="5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1200" dirty="0"/>
              <a:t>Вручную решают по 3 примера каждого типа (10→N, N→10, 2↔16); выписывают шаги алгоритма</a:t>
            </a:r>
            <a:endParaRPr sz="12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0100160" y="3098360"/>
            <a:ext cx="1199520" cy="47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 dirty="0" smtClean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[15  </a:t>
            </a:r>
            <a:r>
              <a:rPr lang="ru-RU" sz="1400" b="1" u="none" strike="noStrike" dirty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мин]</a:t>
            </a:r>
            <a:endParaRPr sz="14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40080" y="3888200"/>
            <a:ext cx="10911600" cy="819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900000" y="4018160"/>
            <a:ext cx="479520" cy="47952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1649880" y="3978200"/>
            <a:ext cx="3299760" cy="4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1600" dirty="0"/>
              <a:t>Этап 3 «Создание тренажера» </a:t>
            </a:r>
            <a:endParaRPr sz="14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150160" y="3978200"/>
            <a:ext cx="4999680" cy="5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1200" dirty="0" smtClean="0"/>
              <a:t>Создание  </a:t>
            </a:r>
            <a:r>
              <a:rPr lang="ru-RU" sz="1200" dirty="0"/>
              <a:t>кода</a:t>
            </a:r>
            <a:endParaRPr sz="12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10100160" y="4018160"/>
            <a:ext cx="1199520" cy="47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 dirty="0" smtClean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[15  </a:t>
            </a:r>
            <a:r>
              <a:rPr lang="ru-RU" sz="1400" b="1" u="none" strike="noStrike" dirty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мин]</a:t>
            </a:r>
            <a:endParaRPr sz="14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40080" y="4808360"/>
            <a:ext cx="10911600" cy="819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900000" y="4938320"/>
            <a:ext cx="479520" cy="47952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1649880" y="4898360"/>
            <a:ext cx="3299760" cy="4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1600" dirty="0"/>
              <a:t>Этап 4 «Спринт-планирование, корректировка» </a:t>
            </a:r>
            <a:endParaRPr sz="14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150160" y="4898360"/>
            <a:ext cx="4999680" cy="5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r>
              <a:rPr lang="ru-RU" sz="1200" dirty="0"/>
              <a:t>Составляют план доработки тренажёра на следующее занятие, вбивают свои ответы в тренажёр, сравнивают подсветку и ошибки</a:t>
            </a:r>
          </a:p>
        </p:txBody>
      </p:sp>
      <p:sp>
        <p:nvSpPr>
          <p:cNvPr id="138" name="Google Shape;138;p8"/>
          <p:cNvSpPr/>
          <p:nvPr/>
        </p:nvSpPr>
        <p:spPr>
          <a:xfrm>
            <a:off x="10100160" y="4938320"/>
            <a:ext cx="1199520" cy="47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 dirty="0" smtClean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[10  </a:t>
            </a:r>
            <a:r>
              <a:rPr lang="ru-RU" sz="1400" b="1" u="none" strike="noStrike" dirty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мин]</a:t>
            </a:r>
            <a:endParaRPr sz="14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2879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8" descr="/home/claude/head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/>
          <p:nvPr/>
        </p:nvSpPr>
        <p:spPr>
          <a:xfrm>
            <a:off x="11338560" y="6446520"/>
            <a:ext cx="547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u="none" strike="noStrike">
                <a:solidFill>
                  <a:srgbClr val="D9D9D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640080" y="1130040"/>
            <a:ext cx="499680" cy="499680"/>
          </a:xfrm>
          <a:prstGeom prst="ellipse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7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1280160" y="1130040"/>
            <a:ext cx="7999560" cy="4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Этапы</a:t>
            </a:r>
            <a:endParaRPr sz="2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640080" y="1623310"/>
            <a:ext cx="10911600" cy="44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r>
              <a:rPr lang="ru-RU" sz="1600" b="1" dirty="0"/>
              <a:t>Занятие 2 (45 мин): «Сборка и защита»</a:t>
            </a:r>
            <a:endParaRPr lang="ru-RU" sz="1600" dirty="0"/>
          </a:p>
        </p:txBody>
      </p:sp>
      <p:sp>
        <p:nvSpPr>
          <p:cNvPr id="119" name="Google Shape;119;p8"/>
          <p:cNvSpPr/>
          <p:nvPr/>
        </p:nvSpPr>
        <p:spPr>
          <a:xfrm>
            <a:off x="640080" y="2048240"/>
            <a:ext cx="10911600" cy="819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900000" y="2178200"/>
            <a:ext cx="479520" cy="47952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1649880" y="2138240"/>
            <a:ext cx="3299760" cy="4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1600" dirty="0"/>
              <a:t>Этап 1 «Синхронизация» </a:t>
            </a:r>
            <a:endParaRPr sz="14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5150160" y="2138240"/>
            <a:ext cx="4999680" cy="5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1200" dirty="0"/>
              <a:t>Проверяют план, распределяют задачи по ролям</a:t>
            </a:r>
            <a:endParaRPr sz="12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10100160" y="2178200"/>
            <a:ext cx="1199520" cy="47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 dirty="0" smtClean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[3 мин</a:t>
            </a:r>
            <a:r>
              <a:rPr lang="ru-RU" sz="1400" b="1" u="none" strike="noStrike" dirty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14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640080" y="2968040"/>
            <a:ext cx="10911600" cy="819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900000" y="3098360"/>
            <a:ext cx="479520" cy="47952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1649880" y="3058040"/>
            <a:ext cx="3299760" cy="4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1600" dirty="0"/>
              <a:t>Этап 2 «Корректировка» </a:t>
            </a:r>
            <a:endParaRPr sz="14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150160" y="3058040"/>
            <a:ext cx="4999680" cy="5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1200" dirty="0"/>
              <a:t>Дописывают / правят код тренажёра: задачи, режимы, тексты</a:t>
            </a:r>
            <a:endParaRPr sz="12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0100160" y="3098360"/>
            <a:ext cx="1199520" cy="47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 dirty="0" smtClean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[15 </a:t>
            </a:r>
            <a:r>
              <a:rPr lang="ru-RU" sz="1400" b="1" u="none" strike="noStrike" dirty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мин]</a:t>
            </a:r>
            <a:endParaRPr sz="14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40080" y="3888200"/>
            <a:ext cx="10911600" cy="819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900000" y="4018160"/>
            <a:ext cx="479520" cy="47952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1649880" y="3978200"/>
            <a:ext cx="3299760" cy="4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1600" dirty="0"/>
              <a:t>Этап 3 «Тестирование» </a:t>
            </a:r>
            <a:endParaRPr sz="14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150160" y="3978200"/>
            <a:ext cx="4999680" cy="5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1200" dirty="0"/>
              <a:t>Обмениваются ссылками с другой командой, тестируют, оставляют замечания</a:t>
            </a:r>
            <a:endParaRPr sz="12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10100160" y="4018160"/>
            <a:ext cx="1199520" cy="47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 dirty="0" smtClean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[10 </a:t>
            </a:r>
            <a:r>
              <a:rPr lang="ru-RU" sz="1400" b="1" u="none" strike="noStrike" dirty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мин]</a:t>
            </a:r>
            <a:endParaRPr sz="14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40080" y="4808360"/>
            <a:ext cx="10911600" cy="819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900000" y="4938320"/>
            <a:ext cx="479520" cy="47952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1649880" y="4898360"/>
            <a:ext cx="3299760" cy="4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1600" dirty="0"/>
              <a:t>Этап 4 «Памятка» </a:t>
            </a:r>
            <a:endParaRPr sz="14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150160" y="4898360"/>
            <a:ext cx="4999680" cy="5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1200" dirty="0"/>
              <a:t>Собирают памятку для одноклассников: алгоритмы + примеры</a:t>
            </a:r>
            <a:endParaRPr sz="12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0100160" y="4938320"/>
            <a:ext cx="1199520" cy="47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 dirty="0" smtClean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[10 </a:t>
            </a:r>
            <a:r>
              <a:rPr lang="ru-RU" sz="1400" b="1" u="none" strike="noStrike" dirty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мин]</a:t>
            </a:r>
            <a:endParaRPr sz="14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8">
            <a:extLst>
              <a:ext uri="{FF2B5EF4-FFF2-40B4-BE49-F238E27FC236}">
                <a16:creationId xmlns="" xmlns:a16="http://schemas.microsoft.com/office/drawing/2014/main" id="{FA4FEA90-73F5-BDB8-70C0-963A245C50EB}"/>
              </a:ext>
            </a:extLst>
          </p:cNvPr>
          <p:cNvSpPr/>
          <p:nvPr/>
        </p:nvSpPr>
        <p:spPr>
          <a:xfrm>
            <a:off x="640200" y="5678930"/>
            <a:ext cx="10911600" cy="819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35;p8">
            <a:extLst>
              <a:ext uri="{FF2B5EF4-FFF2-40B4-BE49-F238E27FC236}">
                <a16:creationId xmlns="" xmlns:a16="http://schemas.microsoft.com/office/drawing/2014/main" id="{FA4B0788-8D05-B43B-6E7C-B8178B077B5B}"/>
              </a:ext>
            </a:extLst>
          </p:cNvPr>
          <p:cNvSpPr/>
          <p:nvPr/>
        </p:nvSpPr>
        <p:spPr>
          <a:xfrm>
            <a:off x="900120" y="5808890"/>
            <a:ext cx="479520" cy="47952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 b="0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36;p8">
            <a:extLst>
              <a:ext uri="{FF2B5EF4-FFF2-40B4-BE49-F238E27FC236}">
                <a16:creationId xmlns="" xmlns:a16="http://schemas.microsoft.com/office/drawing/2014/main" id="{382C2047-10A3-E0C8-E990-65E4AEC599FD}"/>
              </a:ext>
            </a:extLst>
          </p:cNvPr>
          <p:cNvSpPr/>
          <p:nvPr/>
        </p:nvSpPr>
        <p:spPr>
          <a:xfrm>
            <a:off x="1650000" y="5768930"/>
            <a:ext cx="3299760" cy="4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1600" dirty="0"/>
              <a:t>Этап 5 «Защита» </a:t>
            </a:r>
            <a:endParaRPr sz="14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37;p8">
            <a:extLst>
              <a:ext uri="{FF2B5EF4-FFF2-40B4-BE49-F238E27FC236}">
                <a16:creationId xmlns="" xmlns:a16="http://schemas.microsoft.com/office/drawing/2014/main" id="{25F9033D-AE2B-2DFF-11F4-989BAE51BD88}"/>
              </a:ext>
            </a:extLst>
          </p:cNvPr>
          <p:cNvSpPr/>
          <p:nvPr/>
        </p:nvSpPr>
        <p:spPr>
          <a:xfrm>
            <a:off x="5150280" y="5768930"/>
            <a:ext cx="4999680" cy="5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1200" dirty="0" smtClean="0"/>
              <a:t>Презентуют </a:t>
            </a:r>
            <a:r>
              <a:rPr lang="ru-RU" sz="1200" dirty="0"/>
              <a:t>тренажёр и памятку классу, отвечают на вопросы</a:t>
            </a:r>
            <a:endParaRPr sz="12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38;p8">
            <a:extLst>
              <a:ext uri="{FF2B5EF4-FFF2-40B4-BE49-F238E27FC236}">
                <a16:creationId xmlns="" xmlns:a16="http://schemas.microsoft.com/office/drawing/2014/main" id="{26B9EA62-1035-6505-1FBA-CFEA4569DC32}"/>
              </a:ext>
            </a:extLst>
          </p:cNvPr>
          <p:cNvSpPr/>
          <p:nvPr/>
        </p:nvSpPr>
        <p:spPr>
          <a:xfrm>
            <a:off x="10100280" y="5808890"/>
            <a:ext cx="1199520" cy="47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 dirty="0" smtClean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[7 </a:t>
            </a:r>
            <a:r>
              <a:rPr lang="ru-RU" sz="1400" b="1" u="none" strike="noStrike" dirty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мин]</a:t>
            </a:r>
            <a:endParaRPr sz="14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9" descr="/home/claude/head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9"/>
          <p:cNvSpPr/>
          <p:nvPr/>
        </p:nvSpPr>
        <p:spPr>
          <a:xfrm>
            <a:off x="11338560" y="6446520"/>
            <a:ext cx="547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u="none" strike="noStrike">
                <a:solidFill>
                  <a:srgbClr val="D9D9DE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640080" y="1130040"/>
            <a:ext cx="499680" cy="499680"/>
          </a:xfrm>
          <a:prstGeom prst="ellipse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7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280160" y="1130040"/>
            <a:ext cx="7999560" cy="4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Продукт и лендинг</a:t>
            </a:r>
            <a:endParaRPr sz="2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640080" y="2480040"/>
            <a:ext cx="5278680" cy="36997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900000" y="2710080"/>
            <a:ext cx="477864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Что получает ученик на выходе</a:t>
            </a:r>
            <a:endParaRPr sz="14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900000" y="3179880"/>
            <a:ext cx="4758480" cy="114948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900000" y="3179880"/>
            <a:ext cx="4778640" cy="120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r>
              <a:rPr lang="ru-RU" sz="1200" b="1" dirty="0" smtClean="0"/>
              <a:t>Работающий </a:t>
            </a:r>
            <a:r>
              <a:rPr lang="ru-RU" sz="1200" b="1" dirty="0"/>
              <a:t>интерактивный веб-тренажёр по системам счисления</a:t>
            </a:r>
            <a:r>
              <a:rPr lang="ru-RU" sz="1200" dirty="0"/>
              <a:t>  с тремя режимами  перевода (10→N через деление столбиком, N→10 через разложение по разрядам, 2↔8↔16 через группировку битов), живой проверкой шагов, статистикой и сохранением </a:t>
            </a:r>
            <a:r>
              <a:rPr lang="ru-RU" sz="1200" dirty="0" smtClean="0"/>
              <a:t>прогресса.</a:t>
            </a:r>
            <a:endParaRPr lang="ru-RU" sz="1200" dirty="0"/>
          </a:p>
        </p:txBody>
      </p:sp>
      <p:sp>
        <p:nvSpPr>
          <p:cNvPr id="152" name="Google Shape;152;p9"/>
          <p:cNvSpPr/>
          <p:nvPr/>
        </p:nvSpPr>
        <p:spPr>
          <a:xfrm>
            <a:off x="900000" y="4529880"/>
            <a:ext cx="477864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u="none" strike="noStrike" dirty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Критерий готовности продукта:</a:t>
            </a:r>
            <a:endParaRPr sz="13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900000" y="4929840"/>
            <a:ext cx="34956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>
                <a:solidFill>
                  <a:srgbClr val="2C7A3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320120" y="4929840"/>
            <a:ext cx="425880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 dirty="0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Работает на реальных данных, не на примере из методички</a:t>
            </a:r>
            <a:endParaRPr sz="13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900000" y="5349960"/>
            <a:ext cx="34956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>
                <a:solidFill>
                  <a:srgbClr val="2C7A3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1320120" y="5349960"/>
            <a:ext cx="425880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Можно запустить и увидеть результат за &lt; 1 минуты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900000" y="5770080"/>
            <a:ext cx="34956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>
                <a:solidFill>
                  <a:srgbClr val="2C7A3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1320120" y="5770080"/>
            <a:ext cx="425880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Ученик может объяснить каждую часть своими словами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6271920" y="2480040"/>
            <a:ext cx="5278680" cy="3699720"/>
          </a:xfrm>
          <a:prstGeom prst="roundRect">
            <a:avLst>
              <a:gd name="adj" fmla="val 3500"/>
            </a:avLst>
          </a:prstGeom>
          <a:solidFill>
            <a:srgbClr val="F7F7F8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532200" y="2710080"/>
            <a:ext cx="477864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Лендинг занятия</a:t>
            </a:r>
            <a:endParaRPr sz="14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6532200" y="3179880"/>
            <a:ext cx="4758480" cy="599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771960" y="3179880"/>
            <a:ext cx="4278600" cy="5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en-US" sz="1350" dirty="0">
                <a:solidFill>
                  <a:srgbClr val="0F0F0F"/>
                </a:solidFill>
              </a:rPr>
              <a:t>https://github.com/elenanikolaevnabobrikova-netizen/-_-.git</a:t>
            </a:r>
            <a:endParaRPr sz="13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532200" y="3980160"/>
            <a:ext cx="477864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u="none" strike="noStrike" dirty="0" err="1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Лендинг</a:t>
            </a:r>
            <a:r>
              <a:rPr lang="ru-RU" sz="1300" b="1" u="none" strike="noStrike" dirty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 должен содержать:</a:t>
            </a:r>
            <a:endParaRPr sz="13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6532200" y="4510080"/>
            <a:ext cx="159480" cy="15948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6832080" y="4380120"/>
            <a:ext cx="447876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Описание занятия и предметов-партнёров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532200" y="4989960"/>
            <a:ext cx="159480" cy="15948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6832080" y="4860000"/>
            <a:ext cx="447876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 dirty="0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Пример детского продукта (</a:t>
            </a:r>
            <a:r>
              <a:rPr lang="ru-RU" sz="1300" b="0" u="none" strike="noStrike" dirty="0" err="1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скрин</a:t>
            </a:r>
            <a:r>
              <a:rPr lang="ru-RU" sz="1300" b="0" u="none" strike="noStrike" dirty="0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ru-RU" sz="1300" b="0" u="none" strike="noStrike" dirty="0" err="1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демо</a:t>
            </a:r>
            <a:r>
              <a:rPr lang="ru-RU" sz="1300" b="0" u="none" strike="noStrike" dirty="0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3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532200" y="5469840"/>
            <a:ext cx="159480" cy="15948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832080" y="5339880"/>
            <a:ext cx="447876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Чек-лист и материалы для повторения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0" descr="/home/claude/head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/>
          <p:nvPr/>
        </p:nvSpPr>
        <p:spPr>
          <a:xfrm>
            <a:off x="11338560" y="6446520"/>
            <a:ext cx="547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u="none" strike="noStrike">
                <a:solidFill>
                  <a:srgbClr val="D9D9DE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640080" y="1130040"/>
            <a:ext cx="499680" cy="499680"/>
          </a:xfrm>
          <a:prstGeom prst="ellipse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7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1280160" y="1130040"/>
            <a:ext cx="7999560" cy="4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Как оценим</a:t>
            </a:r>
            <a:endParaRPr sz="2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640080" y="1820160"/>
            <a:ext cx="10911600" cy="44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Метрика и чек-лист. Например: доля учеников, сформулировавших проблему самостоятельно.</a:t>
            </a:r>
            <a:endParaRPr sz="14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640080" y="2480040"/>
            <a:ext cx="5278680" cy="1849680"/>
          </a:xfrm>
          <a:prstGeom prst="roundRect">
            <a:avLst>
              <a:gd name="adj" fmla="val 3500"/>
            </a:avLst>
          </a:prstGeom>
          <a:solidFill>
            <a:srgbClr val="7BC83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900000" y="2679840"/>
            <a:ext cx="477864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1200" dirty="0"/>
              <a:t>Доля команд, чей тренажёр открывается и работает</a:t>
            </a:r>
            <a:endParaRPr sz="13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900000" y="3080160"/>
            <a:ext cx="1699560" cy="649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900000" y="3080160"/>
            <a:ext cx="169956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u="none" strike="noStrike" dirty="0" smtClean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sz="24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271920" y="2480040"/>
            <a:ext cx="5278680" cy="1849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6532200" y="2679840"/>
            <a:ext cx="477864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Дополнительные показатели</a:t>
            </a:r>
            <a:endParaRPr sz="135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6532200" y="3179880"/>
            <a:ext cx="159480" cy="15948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6832080" y="3080160"/>
            <a:ext cx="447876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ru-RU" sz="1200" dirty="0" smtClean="0"/>
              <a:t>Доля </a:t>
            </a:r>
            <a:r>
              <a:rPr lang="ru-RU" sz="1200" dirty="0"/>
              <a:t>учеников, верно решивших 5 из 5 примеров </a:t>
            </a:r>
            <a:r>
              <a:rPr lang="ru-RU" sz="1200" dirty="0" smtClean="0"/>
              <a:t>разминки </a:t>
            </a:r>
            <a:r>
              <a:rPr lang="en-US" sz="1200" dirty="0" smtClean="0"/>
              <a:t>&gt;60%</a:t>
            </a:r>
            <a:endParaRPr sz="11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532200" y="3579840"/>
            <a:ext cx="159480" cy="15948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832080" y="3480120"/>
            <a:ext cx="447876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ru-RU" sz="1200" dirty="0"/>
              <a:t>Доля команд, выполнивших все </a:t>
            </a:r>
            <a:r>
              <a:rPr lang="ru-RU" sz="1200" dirty="0" smtClean="0"/>
              <a:t>роли</a:t>
            </a:r>
            <a:r>
              <a:rPr lang="en-US" sz="1200" dirty="0" smtClean="0"/>
              <a:t> &gt;80%</a:t>
            </a:r>
            <a:endParaRPr sz="11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6532200" y="3980160"/>
            <a:ext cx="159480" cy="159480"/>
          </a:xfrm>
          <a:prstGeom prst="ellipse">
            <a:avLst/>
          </a:prstGeom>
          <a:solidFill>
            <a:srgbClr val="0F0F0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6832080" y="3880080"/>
            <a:ext cx="447876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/>
            <a:r>
              <a:rPr lang="ru-RU" sz="1200" dirty="0"/>
              <a:t>Доля учеников, критически проверивших ответы </a:t>
            </a:r>
            <a:r>
              <a:rPr lang="ru-RU" sz="1200" dirty="0" smtClean="0"/>
              <a:t>ИИ</a:t>
            </a:r>
            <a:r>
              <a:rPr lang="en-US" sz="1200" dirty="0" smtClean="0"/>
              <a:t> &gt;80%</a:t>
            </a:r>
            <a:endParaRPr sz="11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640080" y="4579920"/>
            <a:ext cx="1091160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Чек-лист оценки занятия: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40080" y="5029920"/>
            <a:ext cx="349560" cy="3495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1090080" y="5029920"/>
            <a:ext cx="499968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Продукт работает на реальных данных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6240240" y="5029920"/>
            <a:ext cx="349560" cy="3495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690240" y="5029920"/>
            <a:ext cx="499968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Каждый этап завершился наблюдаемым результатом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640080" y="5510160"/>
            <a:ext cx="349560" cy="3495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1090080" y="5510160"/>
            <a:ext cx="499968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Команда может объяснить решение без учителя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240240" y="5510160"/>
            <a:ext cx="349560" cy="3495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690240" y="5510160"/>
            <a:ext cx="499968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Метрика измерена до и после занятия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1" descr="/home/claude/head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1"/>
          <p:cNvSpPr/>
          <p:nvPr/>
        </p:nvSpPr>
        <p:spPr>
          <a:xfrm>
            <a:off x="11338560" y="6446520"/>
            <a:ext cx="547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u="none" strike="noStrike">
                <a:solidFill>
                  <a:srgbClr val="D9D9DE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640080" y="1130040"/>
            <a:ext cx="499680" cy="499680"/>
          </a:xfrm>
          <a:prstGeom prst="ellipse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7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1280160" y="1130040"/>
            <a:ext cx="7999560" cy="4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Куда дальше</a:t>
            </a:r>
            <a:endParaRPr sz="2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640080" y="1820160"/>
            <a:ext cx="10911600" cy="44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 b="0" u="none" strike="noStrike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Как это масштабируется и внедряется. </a:t>
            </a:r>
            <a:r>
              <a:rPr lang="ru-RU" sz="1450" b="0" u="none" strike="noStrike" dirty="0">
                <a:solidFill>
                  <a:srgbClr val="5A5A5E"/>
                </a:solidFill>
                <a:latin typeface="Arial"/>
                <a:ea typeface="Arial"/>
                <a:cs typeface="Arial"/>
                <a:sym typeface="Arial"/>
              </a:rPr>
              <a:t>Реалистичность по ресурсам.</a:t>
            </a:r>
            <a:endParaRPr sz="14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640080" y="2480040"/>
            <a:ext cx="3565440" cy="2699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3855960" y="2480040"/>
            <a:ext cx="219600" cy="1299600"/>
          </a:xfrm>
          <a:prstGeom prst="rect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900000" y="2710080"/>
            <a:ext cx="28656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Один класс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700200" y="3080684"/>
            <a:ext cx="3065400" cy="9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r>
              <a:rPr lang="ru-RU" sz="1200" b="1" dirty="0"/>
              <a:t>Оборудование:</a:t>
            </a:r>
            <a:r>
              <a:rPr lang="ru-RU" sz="1200" dirty="0"/>
              <a:t> компьютерный класс или ноутбуки, проектор, доступ в </a:t>
            </a:r>
            <a:r>
              <a:rPr lang="ru-RU" sz="1200" dirty="0" smtClean="0"/>
              <a:t>интернет. </a:t>
            </a:r>
            <a:r>
              <a:rPr lang="ru-RU" sz="1200" dirty="0"/>
              <a:t>При отсутствии интернета — локальная копия тренажёра на </a:t>
            </a:r>
            <a:r>
              <a:rPr lang="ru-RU" sz="1200" dirty="0" err="1"/>
              <a:t>флешке</a:t>
            </a:r>
            <a:r>
              <a:rPr lang="ru-RU" sz="1200" dirty="0"/>
              <a:t>.</a:t>
            </a:r>
          </a:p>
          <a:p>
            <a:r>
              <a:rPr lang="ru-RU" sz="1200" b="1" dirty="0"/>
              <a:t>Время учителя:</a:t>
            </a:r>
            <a:r>
              <a:rPr lang="ru-RU" sz="1200" dirty="0"/>
              <a:t> 2 занятия по 45 мин + 2–3 часа на подготовку (адаптация </a:t>
            </a:r>
            <a:r>
              <a:rPr lang="ru-RU" sz="1200" dirty="0" err="1"/>
              <a:t>лендинга</a:t>
            </a:r>
            <a:r>
              <a:rPr lang="ru-RU" sz="1200" dirty="0"/>
              <a:t>, проверка кода, печать рабочих листов и памяток).</a:t>
            </a:r>
          </a:p>
          <a:p>
            <a:r>
              <a:rPr lang="ru-RU" sz="1200" b="1" dirty="0"/>
              <a:t>Материалы:</a:t>
            </a:r>
            <a:r>
              <a:rPr lang="ru-RU" sz="1200" dirty="0"/>
              <a:t> паспорт, </a:t>
            </a:r>
            <a:r>
              <a:rPr lang="ru-RU" sz="1200" dirty="0" err="1"/>
              <a:t>лендинг</a:t>
            </a:r>
            <a:r>
              <a:rPr lang="ru-RU" sz="1200" dirty="0"/>
              <a:t>, тренажёр (trainer.html), рабочий лист, памятка.</a:t>
            </a:r>
          </a:p>
        </p:txBody>
      </p:sp>
      <p:sp>
        <p:nvSpPr>
          <p:cNvPr id="214" name="Google Shape;214;p11"/>
          <p:cNvSpPr/>
          <p:nvPr/>
        </p:nvSpPr>
        <p:spPr>
          <a:xfrm>
            <a:off x="4559040" y="2480040"/>
            <a:ext cx="3565440" cy="2699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7774560" y="2480040"/>
            <a:ext cx="219600" cy="1299600"/>
          </a:xfrm>
          <a:prstGeom prst="rect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4818960" y="2710080"/>
            <a:ext cx="28656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Параллель / школа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709160" y="3101891"/>
            <a:ext cx="3065400" cy="9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r>
              <a:rPr lang="ru-RU" sz="1200" b="1" dirty="0"/>
              <a:t>Что меняется:</a:t>
            </a:r>
            <a:r>
              <a:rPr lang="ru-RU" sz="1200" dirty="0"/>
              <a:t> тиражирование методички, обучение коллег (семинар 1–2 часа), единая ссылка на тренажёр для всех классов.</a:t>
            </a:r>
          </a:p>
          <a:p>
            <a:r>
              <a:rPr lang="ru-RU" sz="1200" b="1" dirty="0"/>
              <a:t>Ресурсы:</a:t>
            </a:r>
            <a:r>
              <a:rPr lang="ru-RU" sz="1200" dirty="0"/>
              <a:t> достаточно имеющегося оборудования; помощь IT-специалиста для размещения на школьном сервере или в облаке.</a:t>
            </a:r>
          </a:p>
        </p:txBody>
      </p:sp>
      <p:sp>
        <p:nvSpPr>
          <p:cNvPr id="218" name="Google Shape;218;p11"/>
          <p:cNvSpPr/>
          <p:nvPr/>
        </p:nvSpPr>
        <p:spPr>
          <a:xfrm>
            <a:off x="8477640" y="2480040"/>
            <a:ext cx="3565440" cy="2699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 cap="flat" cmpd="sng">
            <a:solidFill>
              <a:srgbClr val="D9D9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11693520" y="2480040"/>
            <a:ext cx="219600" cy="1299600"/>
          </a:xfrm>
          <a:prstGeom prst="rect">
            <a:avLst/>
          </a:prstGeom>
          <a:solidFill>
            <a:srgbClr val="7BC83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8737560" y="2710080"/>
            <a:ext cx="28656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u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Район / регион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8637660" y="3080684"/>
            <a:ext cx="3065400" cy="9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r>
              <a:rPr lang="ru-RU" sz="1200" b="1" dirty="0"/>
              <a:t>Условия:</a:t>
            </a:r>
            <a:r>
              <a:rPr lang="ru-RU" sz="1200" dirty="0"/>
              <a:t> курсы повышения квалификации по междисциплинарным проектам и использованию ИИ; доступ к оборудованию.</a:t>
            </a:r>
          </a:p>
          <a:p>
            <a:r>
              <a:rPr lang="ru-RU" sz="1200" b="1" dirty="0"/>
              <a:t>Масштабирование:</a:t>
            </a:r>
            <a:r>
              <a:rPr lang="ru-RU" sz="1200" dirty="0"/>
              <a:t> создание сообщества учителей, обмен </a:t>
            </a:r>
            <a:r>
              <a:rPr lang="ru-RU" sz="1200" dirty="0" err="1"/>
              <a:t>лендингами</a:t>
            </a:r>
            <a:r>
              <a:rPr lang="ru-RU" sz="1200" dirty="0"/>
              <a:t> и рабочими листами, проведение конкурсов проектов.</a:t>
            </a:r>
          </a:p>
        </p:txBody>
      </p:sp>
      <p:sp>
        <p:nvSpPr>
          <p:cNvPr id="222" name="Google Shape;222;p11"/>
          <p:cNvSpPr/>
          <p:nvPr/>
        </p:nvSpPr>
        <p:spPr>
          <a:xfrm>
            <a:off x="640080" y="5429880"/>
            <a:ext cx="10911600" cy="99972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556953" y="5206778"/>
            <a:ext cx="10399680" cy="34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50" b="1" u="none" strike="noStrike" dirty="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Какие риски:</a:t>
            </a:r>
            <a:endParaRPr sz="135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334734" y="5550970"/>
            <a:ext cx="11468586" cy="116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r>
              <a:rPr lang="ru-RU" sz="1200" b="1" dirty="0"/>
              <a:t>Технические:</a:t>
            </a:r>
            <a:r>
              <a:rPr lang="ru-RU" sz="1200" dirty="0"/>
              <a:t> нет интернета → локальная версия; устаревший браузер → рекомендация </a:t>
            </a:r>
            <a:r>
              <a:rPr lang="ru-RU" sz="1200" dirty="0" err="1"/>
              <a:t>Chrome</a:t>
            </a:r>
            <a:r>
              <a:rPr lang="ru-RU" sz="1200" dirty="0"/>
              <a:t>/</a:t>
            </a:r>
            <a:r>
              <a:rPr lang="ru-RU" sz="1200" dirty="0" err="1"/>
              <a:t>Edge</a:t>
            </a:r>
            <a:r>
              <a:rPr lang="ru-RU" sz="1200" dirty="0"/>
              <a:t>.</a:t>
            </a:r>
          </a:p>
          <a:p>
            <a:r>
              <a:rPr lang="ru-RU" sz="1200" b="1" dirty="0"/>
              <a:t>Временные:</a:t>
            </a:r>
            <a:r>
              <a:rPr lang="ru-RU" sz="1200" dirty="0"/>
              <a:t> не уложиться в 2 занятия → сократить теорию, вынести сборку за пределы занятия.</a:t>
            </a:r>
          </a:p>
          <a:p>
            <a:r>
              <a:rPr lang="ru-RU" sz="1200" b="1" dirty="0"/>
              <a:t>Образовательные:</a:t>
            </a:r>
            <a:r>
              <a:rPr lang="ru-RU" sz="1200" dirty="0"/>
              <a:t> копирование кода ИИ без понимания → обязательная защита, лог запросов (блок 4 рабочего листа), метрика «критическая проверка ответов ИИ ≥80%».</a:t>
            </a:r>
          </a:p>
          <a:p>
            <a:r>
              <a:rPr lang="ru-RU" sz="1200" b="1" dirty="0"/>
              <a:t>Кадровые:</a:t>
            </a:r>
            <a:r>
              <a:rPr lang="ru-RU" sz="1200" dirty="0"/>
              <a:t> низкая мотивация учителей → демонстрация метрик эффективности (≥60% решённых задач, 100% работающих тренажёров).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685</Words>
  <Application>Microsoft Office PowerPoint</Application>
  <PresentationFormat>Произвольный</PresentationFormat>
  <Paragraphs>126</Paragraphs>
  <Slides>9</Slides>
  <Notes>9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Бобрикова</dc:creator>
  <cp:lastModifiedBy>witty</cp:lastModifiedBy>
  <cp:revision>6</cp:revision>
  <dcterms:modified xsi:type="dcterms:W3CDTF">2026-10-14T16:59:50Z</dcterms:modified>
</cp:coreProperties>
</file>